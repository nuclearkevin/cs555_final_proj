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0"/>
  </p:notesMasterIdLst>
  <p:sldIdLst>
    <p:sldId id="283" r:id="rId2"/>
    <p:sldId id="315" r:id="rId3"/>
    <p:sldId id="319" r:id="rId4"/>
    <p:sldId id="321" r:id="rId5"/>
    <p:sldId id="322" r:id="rId6"/>
    <p:sldId id="320" r:id="rId7"/>
    <p:sldId id="323" r:id="rId8"/>
    <p:sldId id="298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5" roundtripDataSignature="AMtx7mhSaRiTD9uDhGJ3nUfwohnl+c0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5738"/>
    <a:srgbClr val="E84B36"/>
    <a:srgbClr val="FF552E"/>
    <a:srgbClr val="13294B"/>
    <a:srgbClr val="15264B"/>
    <a:srgbClr val="1B4284"/>
    <a:srgbClr val="0E2248"/>
    <a:srgbClr val="0E2E5A"/>
    <a:srgbClr val="0B1A53"/>
    <a:srgbClr val="030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94"/>
  </p:normalViewPr>
  <p:slideViewPr>
    <p:cSldViewPr snapToGrid="0" snapToObjects="1">
      <p:cViewPr varScale="1">
        <p:scale>
          <a:sx n="78" d="100"/>
          <a:sy n="78" d="100"/>
        </p:scale>
        <p:origin x="9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00CB0998-914C-ACC1-C80F-EDE2F782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E0BFE5BE-7D7B-BC9C-2143-9BD55D2FC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7E0B97DE-E42E-B7B2-E068-701A60F4C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2276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410DB6E8-F17A-4614-1C28-75D6BC76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D67E6A1-653E-2C23-6A02-CBC57223C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081E3D90-E9DA-FEE9-9ECC-6C02D7648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206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A545227A-ED24-65BF-BAA1-098A1563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FBD407BA-7891-0F42-EEC4-66E065819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CD8ADCC1-A504-AECD-7D1D-27B222FB7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137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BF569A06-2F2B-040D-D33E-3096E7D3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65D7CC0D-5D85-6D2A-E89D-0BBE60404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B8DAADBA-1A4A-E36B-9963-45B037A67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4042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7868EDA7-9AB7-741B-473E-94E33C616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2DCEA583-A8BC-95A5-A5A1-4AE0550BFB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0FDDC3F5-606E-BD0D-2F18-A4E9185EE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2069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51A9AFA-1871-EA40-E403-C5A12F4A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379B8DA1-D6A3-83E3-78AE-6E73BD167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9B4184DE-79DA-41D8-BF00-862A2872B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1364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em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">
            <a:extLst>
              <a:ext uri="{FF2B5EF4-FFF2-40B4-BE49-F238E27FC236}">
                <a16:creationId xmlns:a16="http://schemas.microsoft.com/office/drawing/2014/main" id="{6EE6B1E5-9B9E-FD48-9F48-627803FDB7F5}"/>
              </a:ext>
            </a:extLst>
          </p:cNvPr>
          <p:cNvSpPr txBox="1"/>
          <p:nvPr/>
        </p:nvSpPr>
        <p:spPr>
          <a:xfrm>
            <a:off x="1134035" y="2553964"/>
            <a:ext cx="9923929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CS 555 Mini-App Presentation</a:t>
            </a:r>
            <a:endParaRPr sz="2500" dirty="0">
              <a:latin typeface="+mn-lt"/>
            </a:endParaRPr>
          </a:p>
          <a:p>
            <a:pPr lvl="0" algn="ctr">
              <a:spcBef>
                <a:spcPts val="600"/>
              </a:spcBef>
            </a:pPr>
            <a:endParaRPr lang="en-US" sz="2500" dirty="0">
              <a:solidFill>
                <a:schemeClr val="lt1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lvl="0" algn="ctr">
              <a:spcBef>
                <a:spcPts val="600"/>
              </a:spcBef>
            </a:pPr>
            <a:r>
              <a:rPr lang="en-US" sz="2500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The S</a:t>
            </a:r>
            <a:r>
              <a:rPr lang="en-US" sz="2500" baseline="-25000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500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 Method for Solving the Linear Boltzmann Equation</a:t>
            </a:r>
          </a:p>
        </p:txBody>
      </p:sp>
      <p:sp>
        <p:nvSpPr>
          <p:cNvPr id="6" name="Google Shape;98;p1">
            <a:extLst>
              <a:ext uri="{FF2B5EF4-FFF2-40B4-BE49-F238E27FC236}">
                <a16:creationId xmlns:a16="http://schemas.microsoft.com/office/drawing/2014/main" id="{5C6D8374-322F-A84C-B20A-504C6528FDDA}"/>
              </a:ext>
            </a:extLst>
          </p:cNvPr>
          <p:cNvSpPr txBox="1"/>
          <p:nvPr/>
        </p:nvSpPr>
        <p:spPr>
          <a:xfrm>
            <a:off x="3922059" y="5413888"/>
            <a:ext cx="434788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300" dirty="0">
                <a:solidFill>
                  <a:schemeClr val="bg1"/>
                </a:solidFill>
                <a:latin typeface="+mn-lt"/>
                <a:ea typeface="Helvetica Neue Light"/>
                <a:sym typeface="Helvetica Neue Light"/>
              </a:rPr>
              <a:t>05/06/2025</a:t>
            </a:r>
            <a:endParaRPr sz="1800" spc="3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B6560-0D29-8109-3DBD-CA9E7189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007" y="1004743"/>
            <a:ext cx="2909982" cy="7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13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CB00D784-C16B-36B7-5DE4-487B499C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73916C22-21D6-A34E-852B-4BFA0B389016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2EBF1-ABAA-452F-B0E0-EA9B2ADC0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BC5D52B3-F94B-BF9D-711A-944579F4A668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9871E204-7A53-6E8A-0067-99F0DB5E5ED4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1DE5B9-D202-06D6-6C82-2D04F1583608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26C825-7CFF-A236-0EC8-EFBE352157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697A5CD-4CF3-A661-F490-727FCA79366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A6D81AA8-8554-FAC9-3CCB-183F9C6F236C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The Linear Boltzmann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2E3D07-FEA9-A056-B23D-4523D4A1F714}"/>
                  </a:ext>
                </a:extLst>
              </p:cNvPr>
              <p:cNvSpPr txBox="1"/>
              <p:nvPr/>
            </p:nvSpPr>
            <p:spPr>
              <a:xfrm>
                <a:off x="177428" y="1128681"/>
                <a:ext cx="7295139" cy="827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𝜕𝜓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2E3D07-FEA9-A056-B23D-4523D4A1F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28" y="1128681"/>
                <a:ext cx="7295139" cy="8273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A27887-A8E8-4097-99E4-1D2A2F2E73D6}"/>
              </a:ext>
            </a:extLst>
          </p:cNvPr>
          <p:cNvCxnSpPr>
            <a:cxnSpLocks/>
          </p:cNvCxnSpPr>
          <p:nvPr/>
        </p:nvCxnSpPr>
        <p:spPr>
          <a:xfrm flipV="1">
            <a:off x="924456" y="2029797"/>
            <a:ext cx="0" cy="1039013"/>
          </a:xfrm>
          <a:prstGeom prst="straightConnector1">
            <a:avLst/>
          </a:prstGeom>
          <a:ln w="5715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15788A-49E8-870E-0BB8-B1021BAFBEDA}"/>
              </a:ext>
            </a:extLst>
          </p:cNvPr>
          <p:cNvCxnSpPr>
            <a:cxnSpLocks/>
          </p:cNvCxnSpPr>
          <p:nvPr/>
        </p:nvCxnSpPr>
        <p:spPr>
          <a:xfrm flipV="1">
            <a:off x="2695448" y="2029796"/>
            <a:ext cx="0" cy="1039013"/>
          </a:xfrm>
          <a:prstGeom prst="straightConnector1">
            <a:avLst/>
          </a:prstGeom>
          <a:ln w="5715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D0C9CA-13B5-C5F1-BB15-B4E8A55FF703}"/>
              </a:ext>
            </a:extLst>
          </p:cNvPr>
          <p:cNvCxnSpPr>
            <a:cxnSpLocks/>
          </p:cNvCxnSpPr>
          <p:nvPr/>
        </p:nvCxnSpPr>
        <p:spPr>
          <a:xfrm flipV="1">
            <a:off x="5210334" y="2029797"/>
            <a:ext cx="0" cy="1039013"/>
          </a:xfrm>
          <a:prstGeom prst="straightConnector1">
            <a:avLst/>
          </a:prstGeom>
          <a:ln w="5715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C8F7A5-03D9-CF9A-0189-389E3BA485AA}"/>
              </a:ext>
            </a:extLst>
          </p:cNvPr>
          <p:cNvCxnSpPr>
            <a:cxnSpLocks/>
          </p:cNvCxnSpPr>
          <p:nvPr/>
        </p:nvCxnSpPr>
        <p:spPr>
          <a:xfrm flipV="1">
            <a:off x="7071389" y="1989449"/>
            <a:ext cx="0" cy="1039013"/>
          </a:xfrm>
          <a:prstGeom prst="straightConnector1">
            <a:avLst/>
          </a:prstGeom>
          <a:ln w="5715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AEC140-F122-C675-7545-EEB2AD6D30D6}"/>
                  </a:ext>
                </a:extLst>
              </p:cNvPr>
              <p:cNvSpPr txBox="1"/>
              <p:nvPr/>
            </p:nvSpPr>
            <p:spPr>
              <a:xfrm>
                <a:off x="7527273" y="1173020"/>
                <a:ext cx="15184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∈[−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AEC140-F122-C675-7545-EEB2AD6D3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273" y="1173020"/>
                <a:ext cx="1518493" cy="369332"/>
              </a:xfrm>
              <a:prstGeom prst="rect">
                <a:avLst/>
              </a:prstGeom>
              <a:blipFill>
                <a:blip r:embed="rId5"/>
                <a:stretch>
                  <a:fillRect l="-2008" r="-6024" b="-3770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640B7F-668E-8A94-D404-7B104F0A7C48}"/>
                  </a:ext>
                </a:extLst>
              </p:cNvPr>
              <p:cNvSpPr txBox="1"/>
              <p:nvPr/>
            </p:nvSpPr>
            <p:spPr>
              <a:xfrm>
                <a:off x="7527273" y="1542352"/>
                <a:ext cx="14712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∈[−1,1]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640B7F-668E-8A94-D404-7B104F0A7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273" y="1542352"/>
                <a:ext cx="1471237" cy="369332"/>
              </a:xfrm>
              <a:prstGeom prst="rect">
                <a:avLst/>
              </a:prstGeom>
              <a:blipFill>
                <a:blip r:embed="rId6"/>
                <a:stretch>
                  <a:fillRect l="-4149" r="-6639" b="-3770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27C2A5-C6BB-50DF-BFC9-E8B6F057FE0F}"/>
                  </a:ext>
                </a:extLst>
              </p:cNvPr>
              <p:cNvSpPr txBox="1"/>
              <p:nvPr/>
            </p:nvSpPr>
            <p:spPr>
              <a:xfrm>
                <a:off x="1485605" y="4014415"/>
                <a:ext cx="4434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)=0, 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&lt;0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27C2A5-C6BB-50DF-BFC9-E8B6F057F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605" y="4014415"/>
                <a:ext cx="4434932" cy="369332"/>
              </a:xfrm>
              <a:prstGeom prst="rect">
                <a:avLst/>
              </a:prstGeom>
              <a:blipFill>
                <a:blip r:embed="rId7"/>
                <a:stretch>
                  <a:fillRect l="-1788" r="-825" b="-38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5A603A-19C6-482F-0632-665983CB1A30}"/>
                  </a:ext>
                </a:extLst>
              </p:cNvPr>
              <p:cNvSpPr txBox="1"/>
              <p:nvPr/>
            </p:nvSpPr>
            <p:spPr>
              <a:xfrm>
                <a:off x="1485605" y="4414402"/>
                <a:ext cx="46631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&gt;0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5A603A-19C6-482F-0632-665983CB1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605" y="4414402"/>
                <a:ext cx="4663136" cy="369332"/>
              </a:xfrm>
              <a:prstGeom prst="rect">
                <a:avLst/>
              </a:prstGeom>
              <a:blipFill>
                <a:blip r:embed="rId8"/>
                <a:stretch>
                  <a:fillRect l="-1569" r="-784" b="-3606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51EE8A-999E-823F-8800-127161F90F6E}"/>
              </a:ext>
            </a:extLst>
          </p:cNvPr>
          <p:cNvSpPr txBox="1"/>
          <p:nvPr/>
        </p:nvSpPr>
        <p:spPr>
          <a:xfrm>
            <a:off x="88714" y="3058395"/>
            <a:ext cx="1746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Self-advection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093344-81C3-7012-C844-DC5BFAEEF82C}"/>
              </a:ext>
            </a:extLst>
          </p:cNvPr>
          <p:cNvSpPr txBox="1"/>
          <p:nvPr/>
        </p:nvSpPr>
        <p:spPr>
          <a:xfrm>
            <a:off x="1904676" y="3073723"/>
            <a:ext cx="1596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Total removal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4ECC1B-1C02-22CC-F509-93795A505300}"/>
              </a:ext>
            </a:extLst>
          </p:cNvPr>
          <p:cNvSpPr txBox="1"/>
          <p:nvPr/>
        </p:nvSpPr>
        <p:spPr>
          <a:xfrm>
            <a:off x="4336854" y="3068809"/>
            <a:ext cx="1746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Scattering source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F04C16-CC42-9C7B-3A8C-BDD47D492FEF}"/>
              </a:ext>
            </a:extLst>
          </p:cNvPr>
          <p:cNvSpPr txBox="1"/>
          <p:nvPr/>
        </p:nvSpPr>
        <p:spPr>
          <a:xfrm>
            <a:off x="6197909" y="3033375"/>
            <a:ext cx="1746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External source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7C3DBDC-4565-9142-7F74-62A979E1B3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0473" y="868221"/>
            <a:ext cx="3099397" cy="288807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679A79A-4108-6AB4-A221-C8512DCF51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8359" y="3634555"/>
            <a:ext cx="3099398" cy="2888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0E70EF-BAAA-4455-4524-CE21012614FC}"/>
                  </a:ext>
                </a:extLst>
              </p:cNvPr>
              <p:cNvSpPr txBox="1"/>
              <p:nvPr/>
            </p:nvSpPr>
            <p:spPr>
              <a:xfrm>
                <a:off x="2284927" y="5247194"/>
                <a:ext cx="2854243" cy="827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0E70EF-BAAA-4455-4524-CE2101261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927" y="5247194"/>
                <a:ext cx="2854243" cy="8273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98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D00D0F95-991D-B6C6-9E0F-A0E66E7C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FB4CC15C-49DF-2D13-ECA1-2C69F2BF6D73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30B2AA-E726-7A1D-39E4-7CCF51BC7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005A79A1-9D1A-8A35-FE7A-84A25ED2AC60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D2A720B0-461E-949E-DE1C-F3B4E3FFF717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B2762F-3CE9-1311-32EF-E085E5A31740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0E6B384-C7FB-391C-E784-D4BE95099A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C1383A-C85F-85BC-0735-4A25F93584DE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E72D367B-6866-F260-48EB-E726811D2FEA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The Test Problem: 1D Reed Benchmark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76332F-3897-96ED-A36B-BA056C649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37" y="2482832"/>
            <a:ext cx="5087074" cy="26559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A3EC37-6118-FB08-BE1D-A021BD9EC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11" y="1102041"/>
            <a:ext cx="6616806" cy="496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6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E27D924-3270-FBA3-980E-A257033B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A22166E-75D7-C160-EF7B-0DF34D0E8EFE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09A68A-8AEA-7C7D-253D-8D9BD9F6D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2A7411F1-564D-5CA0-EA1A-B4CDC300AD27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BE59D2C0-7292-D13C-A328-7EF91C4CDDC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97E3B8-8F65-7F13-84E4-48F0F86C9FF1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4094B31-D5F0-E983-0F43-06FD20C0D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D116477-A915-7A1B-1A4B-9F8260A73BC1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472E1136-D1FB-CE7D-72B9-3E087F917C29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The S</a:t>
            </a:r>
            <a:r>
              <a:rPr lang="en-US" sz="2400" baseline="-250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N</a:t>
            </a: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 Method with Richardson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CD08D3-1B99-79AF-F4DF-700F623DC436}"/>
                  </a:ext>
                </a:extLst>
              </p:cNvPr>
              <p:cNvSpPr txBox="1"/>
              <p:nvPr/>
            </p:nvSpPr>
            <p:spPr>
              <a:xfrm>
                <a:off x="4375432" y="1446445"/>
                <a:ext cx="10213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CD08D3-1B99-79AF-F4DF-700F623DC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432" y="1446445"/>
                <a:ext cx="1021369" cy="369332"/>
              </a:xfrm>
              <a:prstGeom prst="rect">
                <a:avLst/>
              </a:prstGeom>
              <a:blipFill>
                <a:blip r:embed="rId4"/>
                <a:stretch>
                  <a:fillRect l="-5988" b="-262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FF6916-CE70-F53F-5681-B7D6D750F102}"/>
                  </a:ext>
                </a:extLst>
              </p:cNvPr>
              <p:cNvSpPr txBox="1"/>
              <p:nvPr/>
            </p:nvSpPr>
            <p:spPr>
              <a:xfrm>
                <a:off x="5924013" y="1446445"/>
                <a:ext cx="24441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FF6916-CE70-F53F-5681-B7D6D750F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13" y="1446445"/>
                <a:ext cx="2444131" cy="369332"/>
              </a:xfrm>
              <a:prstGeom prst="rect">
                <a:avLst/>
              </a:prstGeom>
              <a:blipFill>
                <a:blip r:embed="rId5"/>
                <a:stretch>
                  <a:fillRect l="-2244" r="-2244" b="-3770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BDBE5E-550C-5CF0-ABBF-2B33865E0363}"/>
                  </a:ext>
                </a:extLst>
              </p:cNvPr>
              <p:cNvSpPr txBox="1"/>
              <p:nvPr/>
            </p:nvSpPr>
            <p:spPr>
              <a:xfrm>
                <a:off x="1690301" y="2019477"/>
                <a:ext cx="4803174" cy="703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BDBE5E-550C-5CF0-ABBF-2B33865E0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301" y="2019477"/>
                <a:ext cx="4803174" cy="7035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B43D0-DFA9-433A-7913-C4683487E4FF}"/>
                  </a:ext>
                </a:extLst>
              </p:cNvPr>
              <p:cNvSpPr txBox="1"/>
              <p:nvPr/>
            </p:nvSpPr>
            <p:spPr>
              <a:xfrm>
                <a:off x="6763210" y="1874857"/>
                <a:ext cx="4794299" cy="1038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B43D0-DFA9-433A-7913-C4683487E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210" y="1874857"/>
                <a:ext cx="4794299" cy="10384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2665B86-BC71-9F3D-7219-B047C88EE8CB}"/>
              </a:ext>
            </a:extLst>
          </p:cNvPr>
          <p:cNvSpPr txBox="1"/>
          <p:nvPr/>
        </p:nvSpPr>
        <p:spPr>
          <a:xfrm>
            <a:off x="88713" y="982305"/>
            <a:ext cx="244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The S</a:t>
            </a:r>
            <a:r>
              <a:rPr lang="en-CA" sz="2000" baseline="-25000" dirty="0"/>
              <a:t>N</a:t>
            </a:r>
            <a:r>
              <a:rPr lang="en-CA" sz="2000" dirty="0"/>
              <a:t> method: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7D2E25-DE6D-8359-44C3-0DD527EB94B1}"/>
              </a:ext>
            </a:extLst>
          </p:cNvPr>
          <p:cNvSpPr txBox="1"/>
          <p:nvPr/>
        </p:nvSpPr>
        <p:spPr>
          <a:xfrm>
            <a:off x="88712" y="3160010"/>
            <a:ext cx="2939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Richardson iteration: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6BFA5-D1DA-FF6C-0F86-D85CB2917C4A}"/>
                  </a:ext>
                </a:extLst>
              </p:cNvPr>
              <p:cNvSpPr txBox="1"/>
              <p:nvPr/>
            </p:nvSpPr>
            <p:spPr>
              <a:xfrm>
                <a:off x="1390533" y="3623467"/>
                <a:ext cx="4672882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solidFill>
                            <a:srgbClr val="E84B36"/>
                          </a:solidFill>
                          <a:latin typeface="Cambria Math" panose="02040503050406030204" pitchFamily="18" charset="0"/>
                        </a:rPr>
                        <m:t>1.  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6BFA5-D1DA-FF6C-0F86-D85CB291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33" y="3623467"/>
                <a:ext cx="4672882" cy="7411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3E7E38-FD86-FBA7-8CA6-9D25F73B9ECF}"/>
                  </a:ext>
                </a:extLst>
              </p:cNvPr>
              <p:cNvSpPr txBox="1"/>
              <p:nvPr/>
            </p:nvSpPr>
            <p:spPr>
              <a:xfrm>
                <a:off x="1390533" y="4307065"/>
                <a:ext cx="3284169" cy="1038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solidFill>
                            <a:srgbClr val="E84B36"/>
                          </a:solidFill>
                          <a:latin typeface="Cambria Math" panose="02040503050406030204" pitchFamily="18" charset="0"/>
                        </a:rPr>
                        <m:t>2.  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3E7E38-FD86-FBA7-8CA6-9D25F73B9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33" y="4307065"/>
                <a:ext cx="3284169" cy="10384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C6A84A-62CE-900B-F71A-3D135C55B213}"/>
                  </a:ext>
                </a:extLst>
              </p:cNvPr>
              <p:cNvSpPr txBox="1"/>
              <p:nvPr/>
            </p:nvSpPr>
            <p:spPr>
              <a:xfrm>
                <a:off x="1390533" y="5425694"/>
                <a:ext cx="5622565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smtClean="0">
                          <a:solidFill>
                            <a:srgbClr val="FF552E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CA" sz="2400" b="0" i="1" smtClean="0">
                          <a:solidFill>
                            <a:srgbClr val="FF552E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C6A84A-62CE-900B-F71A-3D135C55B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33" y="5425694"/>
                <a:ext cx="5622565" cy="741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2F896403-8343-1718-28BD-8505EAD5850D}"/>
              </a:ext>
            </a:extLst>
          </p:cNvPr>
          <p:cNvCxnSpPr>
            <a:cxnSpLocks/>
            <a:stCxn id="26" idx="1"/>
            <a:endCxn id="28" idx="1"/>
          </p:cNvCxnSpPr>
          <p:nvPr/>
        </p:nvCxnSpPr>
        <p:spPr>
          <a:xfrm rot="10800000" flipV="1">
            <a:off x="1390533" y="4826309"/>
            <a:ext cx="12700" cy="969967"/>
          </a:xfrm>
          <a:prstGeom prst="curvedConnector3">
            <a:avLst>
              <a:gd name="adj1" fmla="val 1800000"/>
            </a:avLst>
          </a:prstGeom>
          <a:ln w="57150">
            <a:solidFill>
              <a:srgbClr val="FF55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51187C73-5AE9-1314-8CEC-23FC914F17C1}"/>
              </a:ext>
            </a:extLst>
          </p:cNvPr>
          <p:cNvCxnSpPr>
            <a:cxnSpLocks/>
            <a:stCxn id="28" idx="3"/>
            <a:endCxn id="26" idx="3"/>
          </p:cNvCxnSpPr>
          <p:nvPr/>
        </p:nvCxnSpPr>
        <p:spPr>
          <a:xfrm flipH="1" flipV="1">
            <a:off x="4674702" y="4826310"/>
            <a:ext cx="2338396" cy="969967"/>
          </a:xfrm>
          <a:prstGeom prst="curvedConnector3">
            <a:avLst>
              <a:gd name="adj1" fmla="val -9776"/>
            </a:avLst>
          </a:prstGeom>
          <a:ln w="57150">
            <a:solidFill>
              <a:srgbClr val="FF55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3AF8B7-E492-BAEF-AFCB-25F1893F5451}"/>
                  </a:ext>
                </a:extLst>
              </p:cNvPr>
              <p:cNvSpPr txBox="1"/>
              <p:nvPr/>
            </p:nvSpPr>
            <p:spPr>
              <a:xfrm>
                <a:off x="8368144" y="4166710"/>
                <a:ext cx="2634118" cy="1007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ℓ=0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p>
                          </m:sSup>
                          <m:d>
                            <m:d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3AF8B7-E492-BAEF-AFCB-25F1893F5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144" y="4166710"/>
                <a:ext cx="2634118" cy="10073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21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  <p:bldP spid="25" grpId="0"/>
      <p:bldP spid="26" grpId="0"/>
      <p:bldP spid="28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068293C-C30F-C72C-ABCA-57C6F25B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BF34B647-6EF2-9571-9CCE-A9E61302971E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6BF34D-DBBE-473E-194B-4C1A9195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07BD1BA8-22B2-1AC9-B367-9C46EF505B08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C02787A3-3544-6E3C-0833-5E8FBA00429D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DB9E07-79EB-CDD7-4754-B5A17F977ECA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95B8A7-6406-184A-A98B-D0C1F3647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57E5DC5-E74D-ED0E-15A9-8A6F52B878F7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47E30B2E-07A3-AAC2-F804-6067D3CBC235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Spatial Discretization and Solution Procedure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AC3C9-A821-3BD3-4931-D77A3F2CDB70}"/>
              </a:ext>
            </a:extLst>
          </p:cNvPr>
          <p:cNvSpPr txBox="1"/>
          <p:nvPr/>
        </p:nvSpPr>
        <p:spPr>
          <a:xfrm>
            <a:off x="88712" y="872218"/>
            <a:ext cx="6557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Discretized with diamond differencing and </a:t>
            </a:r>
            <a:r>
              <a:rPr lang="en-CA" sz="2000" dirty="0" err="1"/>
              <a:t>upwinding</a:t>
            </a:r>
            <a:r>
              <a:rPr lang="en-CA" sz="2000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E0D1F-B291-643D-6CC5-E8CEF295A36B}"/>
              </a:ext>
            </a:extLst>
          </p:cNvPr>
          <p:cNvSpPr txBox="1"/>
          <p:nvPr/>
        </p:nvSpPr>
        <p:spPr>
          <a:xfrm>
            <a:off x="88712" y="2617443"/>
            <a:ext cx="6557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Resulting system of equations is block lower triangular per direction!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3F21CE-3887-B8D1-1B99-345C09A1C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10" y="3335560"/>
            <a:ext cx="4834287" cy="26772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0A24F0-9746-2A01-26DF-F3C402D1DB58}"/>
              </a:ext>
            </a:extLst>
          </p:cNvPr>
          <p:cNvSpPr txBox="1"/>
          <p:nvPr/>
        </p:nvSpPr>
        <p:spPr>
          <a:xfrm>
            <a:off x="376809" y="5917728"/>
            <a:ext cx="4834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Block structure of the 1D S</a:t>
            </a:r>
            <a:r>
              <a:rPr lang="en-CA" sz="1200" baseline="-25000" dirty="0"/>
              <a:t>N</a:t>
            </a:r>
            <a:r>
              <a:rPr lang="en-CA" sz="1200" dirty="0"/>
              <a:t> equations. </a:t>
            </a:r>
          </a:p>
          <a:p>
            <a:pPr algn="ctr"/>
            <a:r>
              <a:rPr lang="en-CA" sz="1200" dirty="0"/>
              <a:t>(Lewis and Miller, Chapter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D82EA1-4751-32A0-D369-1FBCF4F1AB68}"/>
                  </a:ext>
                </a:extLst>
              </p:cNvPr>
              <p:cNvSpPr txBox="1"/>
              <p:nvPr/>
            </p:nvSpPr>
            <p:spPr>
              <a:xfrm>
                <a:off x="1510292" y="1468383"/>
                <a:ext cx="5801653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CA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CA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−1/2</m:t>
                              </m:r>
                            </m:sub>
                            <m:sup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p>
                          </m:sSub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ℓ−1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2|</m:t>
                              </m:r>
                              <m:sSub>
                                <m:sSubPr>
                                  <m:ctrlP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D82EA1-4751-32A0-D369-1FBCF4F1A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292" y="1468383"/>
                <a:ext cx="5801653" cy="9020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F0F511-B082-6114-46B3-52B7C3E50F26}"/>
                  </a:ext>
                </a:extLst>
              </p:cNvPr>
              <p:cNvSpPr txBox="1"/>
              <p:nvPr/>
            </p:nvSpPr>
            <p:spPr>
              <a:xfrm>
                <a:off x="7538087" y="1672827"/>
                <a:ext cx="3623556" cy="452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+1/2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−1/2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</m:oMath>
                  </m:oMathPara>
                </a14:m>
                <a:endParaRPr lang="en-CA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F0F511-B082-6114-46B3-52B7C3E50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087" y="1672827"/>
                <a:ext cx="3623556" cy="452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8CBFB-9950-4525-0467-D936DD8E3006}"/>
                  </a:ext>
                </a:extLst>
              </p:cNvPr>
              <p:cNvSpPr txBox="1"/>
              <p:nvPr/>
            </p:nvSpPr>
            <p:spPr>
              <a:xfrm>
                <a:off x="316122" y="1768349"/>
                <a:ext cx="9874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8CBFB-9950-4525-0467-D936DD8E3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22" y="1768349"/>
                <a:ext cx="987450" cy="369332"/>
              </a:xfrm>
              <a:prstGeom prst="rect">
                <a:avLst/>
              </a:prstGeom>
              <a:blipFill>
                <a:blip r:embed="rId7"/>
                <a:stretch>
                  <a:fillRect l="-6173" r="-6173" b="-262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27ED4A95-949A-9A6E-54BC-B9D29BD19C09}"/>
              </a:ext>
            </a:extLst>
          </p:cNvPr>
          <p:cNvSpPr/>
          <p:nvPr/>
        </p:nvSpPr>
        <p:spPr>
          <a:xfrm>
            <a:off x="6521652" y="4036555"/>
            <a:ext cx="914400" cy="9020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B30F87-B203-5C73-D621-9A6271179319}"/>
              </a:ext>
            </a:extLst>
          </p:cNvPr>
          <p:cNvSpPr/>
          <p:nvPr/>
        </p:nvSpPr>
        <p:spPr>
          <a:xfrm>
            <a:off x="7436052" y="4036555"/>
            <a:ext cx="914400" cy="9020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B2AE1-E61A-CADB-74C9-EC869929867E}"/>
              </a:ext>
            </a:extLst>
          </p:cNvPr>
          <p:cNvSpPr/>
          <p:nvPr/>
        </p:nvSpPr>
        <p:spPr>
          <a:xfrm>
            <a:off x="8350452" y="4037777"/>
            <a:ext cx="914400" cy="9020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9BA774-F73C-94B1-2244-7388E51C9F5F}"/>
              </a:ext>
            </a:extLst>
          </p:cNvPr>
          <p:cNvSpPr txBox="1"/>
          <p:nvPr/>
        </p:nvSpPr>
        <p:spPr>
          <a:xfrm>
            <a:off x="9335597" y="4274092"/>
            <a:ext cx="391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86C56-49D9-E14B-1374-5DB637EAD60A}"/>
              </a:ext>
            </a:extLst>
          </p:cNvPr>
          <p:cNvSpPr/>
          <p:nvPr/>
        </p:nvSpPr>
        <p:spPr>
          <a:xfrm>
            <a:off x="9797350" y="4032958"/>
            <a:ext cx="914400" cy="9020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06A506-E5A1-F6EE-F500-DA1085EAD380}"/>
              </a:ext>
            </a:extLst>
          </p:cNvPr>
          <p:cNvCxnSpPr>
            <a:cxnSpLocks/>
          </p:cNvCxnSpPr>
          <p:nvPr/>
        </p:nvCxnSpPr>
        <p:spPr>
          <a:xfrm>
            <a:off x="5988304" y="2492074"/>
            <a:ext cx="990548" cy="1583772"/>
          </a:xfrm>
          <a:prstGeom prst="straightConnector1">
            <a:avLst/>
          </a:prstGeom>
          <a:ln w="3810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322464D-5547-9E71-8BE6-EB8C83AD4FC7}"/>
              </a:ext>
            </a:extLst>
          </p:cNvPr>
          <p:cNvSpPr txBox="1"/>
          <p:nvPr/>
        </p:nvSpPr>
        <p:spPr>
          <a:xfrm>
            <a:off x="5945687" y="4315345"/>
            <a:ext cx="5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BC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D3137F-62D0-C473-335D-3D649C0F0620}"/>
              </a:ext>
            </a:extLst>
          </p:cNvPr>
          <p:cNvSpPr txBox="1"/>
          <p:nvPr/>
        </p:nvSpPr>
        <p:spPr>
          <a:xfrm>
            <a:off x="6678969" y="4324690"/>
            <a:ext cx="5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B9B1C2-C023-35D4-5F3F-0DD375DD8300}"/>
              </a:ext>
            </a:extLst>
          </p:cNvPr>
          <p:cNvSpPr txBox="1"/>
          <p:nvPr/>
        </p:nvSpPr>
        <p:spPr>
          <a:xfrm>
            <a:off x="7593368" y="4318751"/>
            <a:ext cx="5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EF7E64-26BF-CDFF-6209-EFC57CF51426}"/>
              </a:ext>
            </a:extLst>
          </p:cNvPr>
          <p:cNvSpPr txBox="1"/>
          <p:nvPr/>
        </p:nvSpPr>
        <p:spPr>
          <a:xfrm>
            <a:off x="8507768" y="4324690"/>
            <a:ext cx="5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49C71F-5B69-869A-5031-A3670C47B816}"/>
              </a:ext>
            </a:extLst>
          </p:cNvPr>
          <p:cNvSpPr txBox="1"/>
          <p:nvPr/>
        </p:nvSpPr>
        <p:spPr>
          <a:xfrm>
            <a:off x="9954666" y="4324690"/>
            <a:ext cx="5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/>
              <a:t>I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C0610C-1393-1017-A883-A4A223F6DC38}"/>
              </a:ext>
            </a:extLst>
          </p:cNvPr>
          <p:cNvCxnSpPr>
            <a:cxnSpLocks/>
          </p:cNvCxnSpPr>
          <p:nvPr/>
        </p:nvCxnSpPr>
        <p:spPr>
          <a:xfrm>
            <a:off x="5998136" y="2472432"/>
            <a:ext cx="4266246" cy="1550694"/>
          </a:xfrm>
          <a:prstGeom prst="straightConnector1">
            <a:avLst/>
          </a:prstGeom>
          <a:ln w="3810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50FD50-59EC-3810-A0C9-EE0844407379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998136" y="2464769"/>
            <a:ext cx="1895116" cy="1571786"/>
          </a:xfrm>
          <a:prstGeom prst="straightConnector1">
            <a:avLst/>
          </a:prstGeom>
          <a:ln w="3810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9EC6B7-0B10-FB52-C667-D71819DEB771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998136" y="2464769"/>
            <a:ext cx="2809516" cy="1573008"/>
          </a:xfrm>
          <a:prstGeom prst="straightConnector1">
            <a:avLst/>
          </a:prstGeom>
          <a:ln w="38100">
            <a:solidFill>
              <a:srgbClr val="1329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E302C9-7FB4-CAA2-4572-89A5CC1CE5BE}"/>
              </a:ext>
            </a:extLst>
          </p:cNvPr>
          <p:cNvCxnSpPr>
            <a:cxnSpLocks/>
          </p:cNvCxnSpPr>
          <p:nvPr/>
        </p:nvCxnSpPr>
        <p:spPr>
          <a:xfrm flipH="1">
            <a:off x="7445459" y="2180707"/>
            <a:ext cx="1414165" cy="1878366"/>
          </a:xfrm>
          <a:prstGeom prst="straightConnector1">
            <a:avLst/>
          </a:prstGeom>
          <a:ln w="38100">
            <a:solidFill>
              <a:srgbClr val="FA57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0D0BE13-8783-EFEF-DBA0-EEAA1AD0ED11}"/>
              </a:ext>
            </a:extLst>
          </p:cNvPr>
          <p:cNvCxnSpPr>
            <a:cxnSpLocks/>
          </p:cNvCxnSpPr>
          <p:nvPr/>
        </p:nvCxnSpPr>
        <p:spPr>
          <a:xfrm flipH="1">
            <a:off x="8371735" y="2205091"/>
            <a:ext cx="483186" cy="1809342"/>
          </a:xfrm>
          <a:prstGeom prst="straightConnector1">
            <a:avLst/>
          </a:prstGeom>
          <a:ln w="38100">
            <a:solidFill>
              <a:srgbClr val="FA57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D6665A-BCE6-72C8-57A4-EBB9CAC08B15}"/>
              </a:ext>
            </a:extLst>
          </p:cNvPr>
          <p:cNvCxnSpPr>
            <a:cxnSpLocks/>
          </p:cNvCxnSpPr>
          <p:nvPr/>
        </p:nvCxnSpPr>
        <p:spPr>
          <a:xfrm>
            <a:off x="8838767" y="2185427"/>
            <a:ext cx="426510" cy="1846245"/>
          </a:xfrm>
          <a:prstGeom prst="straightConnector1">
            <a:avLst/>
          </a:prstGeom>
          <a:ln w="38100">
            <a:solidFill>
              <a:srgbClr val="FA57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55A7AD-2E37-7924-C492-75A975A1A5B0}"/>
              </a:ext>
            </a:extLst>
          </p:cNvPr>
          <p:cNvCxnSpPr>
            <a:cxnSpLocks/>
          </p:cNvCxnSpPr>
          <p:nvPr/>
        </p:nvCxnSpPr>
        <p:spPr>
          <a:xfrm>
            <a:off x="8838767" y="2205091"/>
            <a:ext cx="958583" cy="1821861"/>
          </a:xfrm>
          <a:prstGeom prst="straightConnector1">
            <a:avLst/>
          </a:prstGeom>
          <a:ln w="38100">
            <a:solidFill>
              <a:srgbClr val="FA57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95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6" grpId="0"/>
      <p:bldP spid="27" grpId="0"/>
      <p:bldP spid="28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6B4A3BB-17B2-A21F-872E-AEBD54E4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CB69896F-95F8-2EFA-FF86-03736B5C7AE0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FF95E-9512-4AA8-A96C-59076FECD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4FF63FF4-189D-6A9D-9041-E3110ADA865A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3AAB42EB-3BD6-B994-4D13-1E9B9947E442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6D53ED-1028-5368-B501-2B249F5A7420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EA8E47D-CA8A-DEDB-48F1-AFFF3981E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BB23B85-750C-D21F-315A-EBAC900B55FA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B9B01ED6-8E45-B74D-2919-8CDFF3C4AE54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Results: Low to Moderate Space-Angle Refinement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6A2F36-65CC-666A-F746-8FCF84B1A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3032" y="1877961"/>
            <a:ext cx="4417961" cy="33134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281ED3-9818-4AFC-834E-582828AEA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019" y="1877961"/>
            <a:ext cx="4417961" cy="33134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1E1A49-D90D-A93F-2E31-368D7FDE9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070" y="1877964"/>
            <a:ext cx="4417957" cy="33134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A18AD9-76F2-3D17-7CE0-187BA812623D}"/>
              </a:ext>
            </a:extLst>
          </p:cNvPr>
          <p:cNvSpPr txBox="1"/>
          <p:nvPr/>
        </p:nvSpPr>
        <p:spPr>
          <a:xfrm>
            <a:off x="-55716" y="5191431"/>
            <a:ext cx="378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20 grid points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77B7E-6DE5-AEF7-4AEA-90AA856225B0}"/>
              </a:ext>
            </a:extLst>
          </p:cNvPr>
          <p:cNvSpPr txBox="1"/>
          <p:nvPr/>
        </p:nvSpPr>
        <p:spPr>
          <a:xfrm>
            <a:off x="4204929" y="5191431"/>
            <a:ext cx="378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40 grid 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78E5E-EE1B-DFDA-F377-99BE22673BD6}"/>
              </a:ext>
            </a:extLst>
          </p:cNvPr>
          <p:cNvSpPr txBox="1"/>
          <p:nvPr/>
        </p:nvSpPr>
        <p:spPr>
          <a:xfrm>
            <a:off x="8368144" y="5191431"/>
            <a:ext cx="378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80 grid points</a:t>
            </a:r>
          </a:p>
        </p:txBody>
      </p:sp>
    </p:spTree>
    <p:extLst>
      <p:ext uri="{BB962C8B-B14F-4D97-AF65-F5344CB8AC3E}">
        <p14:creationId xmlns:p14="http://schemas.microsoft.com/office/powerpoint/2010/main" val="386129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E54E466-636C-14E9-EF65-5F3E563E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6C0E3C68-17D9-E7A4-B4FE-6642533D97B9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9C328F-CC27-7797-F3EF-BFE861E38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6C02982D-388B-8282-2CA4-B12038E06A57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6AB2B684-314C-167E-9249-347B095B6099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ACAD10-7102-9458-400E-F3A305930DB4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9155976-5F9F-DA6C-0605-11F8350F81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D24173-6484-ED42-4F43-7ED5C79D59BC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F510CE71-787A-2504-467D-7B1A65A6FF83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Results: Resolved Space-Angle Refinement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DF6D3B-45E7-E44E-08A9-4541F3983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10301"/>
            <a:ext cx="60960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86E1A1-85CD-B93E-AD16-23A7E0AA4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10301"/>
            <a:ext cx="6096000" cy="457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F6E5E9-AE81-0529-CA53-E670B87AB77B}"/>
              </a:ext>
            </a:extLst>
          </p:cNvPr>
          <p:cNvSpPr txBox="1"/>
          <p:nvPr/>
        </p:nvSpPr>
        <p:spPr>
          <a:xfrm>
            <a:off x="1155290" y="5982301"/>
            <a:ext cx="378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160 grid points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2494B-01BF-CEA1-D209-2A4840B558FE}"/>
              </a:ext>
            </a:extLst>
          </p:cNvPr>
          <p:cNvSpPr txBox="1"/>
          <p:nvPr/>
        </p:nvSpPr>
        <p:spPr>
          <a:xfrm>
            <a:off x="7336930" y="5980109"/>
            <a:ext cx="378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320 grid points</a:t>
            </a:r>
          </a:p>
        </p:txBody>
      </p:sp>
    </p:spTree>
    <p:extLst>
      <p:ext uri="{BB962C8B-B14F-4D97-AF65-F5344CB8AC3E}">
        <p14:creationId xmlns:p14="http://schemas.microsoft.com/office/powerpoint/2010/main" val="199636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47;p7">
            <a:extLst>
              <a:ext uri="{FF2B5EF4-FFF2-40B4-BE49-F238E27FC236}">
                <a16:creationId xmlns:a16="http://schemas.microsoft.com/office/drawing/2014/main" id="{E0413B06-A2E6-C746-8C3D-87E15D354737}"/>
              </a:ext>
            </a:extLst>
          </p:cNvPr>
          <p:cNvSpPr txBox="1">
            <a:spLocks/>
          </p:cNvSpPr>
          <p:nvPr/>
        </p:nvSpPr>
        <p:spPr>
          <a:xfrm>
            <a:off x="4714492" y="2940074"/>
            <a:ext cx="2763016" cy="99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Thank You!</a:t>
            </a:r>
          </a:p>
          <a:p>
            <a:pPr algn="ctr"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Any Questions?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A22F80-7598-2AFF-324B-ADBB7BEA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1813D5DD-EC82-7BC9-F447-007E5F684A0D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13FC04A8-B3E8-146A-F053-F1CE7D7630C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NUCLEAR, PLASMA &amp; RADIOLOGICAL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6D5389-6F1B-1FC3-9768-257AF510AC6E}"/>
              </a:ext>
            </a:extLst>
          </p:cNvPr>
          <p:cNvGrpSpPr/>
          <p:nvPr/>
        </p:nvGrpSpPr>
        <p:grpSpPr>
          <a:xfrm>
            <a:off x="4726379" y="6601537"/>
            <a:ext cx="4573707" cy="70446"/>
            <a:chOff x="4693129" y="6601537"/>
            <a:chExt cx="4573707" cy="70446"/>
          </a:xfrm>
          <a:solidFill>
            <a:schemeClr val="bg1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6570C9-3B98-0204-299D-BAFC30EAB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129" y="6639606"/>
              <a:ext cx="4504946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9364CF-7B24-F9C8-BFE9-6E3B8F3822CD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909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19307</TotalTime>
  <Words>323</Words>
  <Application>Microsoft Office PowerPoint</Application>
  <PresentationFormat>Widescreen</PresentationFormat>
  <Paragraphs>64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template. Please copy this document before making any edits</dc:title>
  <dc:creator>Nielsen, Joshua</dc:creator>
  <cp:lastModifiedBy>Sawatzky, Kevin Cornelio</cp:lastModifiedBy>
  <cp:revision>404</cp:revision>
  <dcterms:created xsi:type="dcterms:W3CDTF">2019-01-14T22:06:33Z</dcterms:created>
  <dcterms:modified xsi:type="dcterms:W3CDTF">2025-04-29T10:10:18Z</dcterms:modified>
</cp:coreProperties>
</file>